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Helvetica Neue" panose="020B0604020202020204" charset="0"/>
      <p:regular r:id="rId17"/>
      <p:bold r:id="rId18"/>
      <p:italic r:id="rId19"/>
      <p:boldItalic r:id="rId20"/>
    </p:embeddedFont>
    <p:embeddedFont>
      <p:font typeface="Helvetica Neue Light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GaY7Xcl2x1n/9Whn8P6HWiEHv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B7C044-6000-4429-AD31-89C53C9B0908}">
  <a:tblStyle styleId="{55B7C044-6000-4429-AD31-89C53C9B090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94660"/>
  </p:normalViewPr>
  <p:slideViewPr>
    <p:cSldViewPr snapToGrid="0">
      <p:cViewPr varScale="1">
        <p:scale>
          <a:sx n="72" d="100"/>
          <a:sy n="72" d="100"/>
        </p:scale>
        <p:origin x="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e7a6440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3de7a64409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g3de7a64409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a0de8e63f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g38a0de8e63f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60d2e968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960d2e9682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3960d2e9682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60d2e9682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g3960d2e9682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a0de8e63f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g38a0de8e63f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785840838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d78584083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60d2e9682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g3960d2e968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784b425ce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3d784b425c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60d2e9682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g3960d2e968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784b425ce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g3d784b425c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78d01c4a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3d78d01c4a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a0de8e63f_2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g38a0de8e63f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801B1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25" name="Google Shape;25;p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7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1" name="Google Shape;31;p6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" name="Google Shape;32;p6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8" name="Google Shape;38;p8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47" name="Google Shape;47;p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2" name="Google Shape;52;p10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6" name="Google Shape;56;p1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63" name="Google Shape;63;p1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0" name="Google Shape;70;p1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6" name="Google Shape;76;p1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82" name="Google Shape;82;p1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4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17" name="Google Shape;17;p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title"/>
          </p:nvPr>
        </p:nvSpPr>
        <p:spPr>
          <a:xfrm>
            <a:off x="730050" y="3164925"/>
            <a:ext cx="10731900" cy="8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/>
              <a:t>CSE623-Machine Learning </a:t>
            </a:r>
            <a:endParaRPr sz="4300"/>
          </a:p>
        </p:txBody>
      </p:sp>
      <p:sp>
        <p:nvSpPr>
          <p:cNvPr id="89" name="Google Shape;89;p1"/>
          <p:cNvSpPr txBox="1"/>
          <p:nvPr/>
        </p:nvSpPr>
        <p:spPr>
          <a:xfrm>
            <a:off x="414000" y="4154575"/>
            <a:ext cx="5682000" cy="22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- 9 ML Code Crafters</a:t>
            </a:r>
            <a:endParaRPr sz="2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title: Offline Track Association Problem [UAV Videos]</a:t>
            </a:r>
            <a:endParaRPr sz="2800" b="1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90" name="Google Shape;90;p1"/>
          <p:cNvGraphicFramePr/>
          <p:nvPr/>
        </p:nvGraphicFramePr>
        <p:xfrm>
          <a:off x="6462350" y="4154575"/>
          <a:ext cx="5281300" cy="1981050"/>
        </p:xfrm>
        <a:graphic>
          <a:graphicData uri="http://schemas.openxmlformats.org/drawingml/2006/table">
            <a:tbl>
              <a:tblPr>
                <a:noFill/>
                <a:tableStyleId>{55B7C044-6000-4429-AD31-89C53C9B0908}</a:tableStyleId>
              </a:tblPr>
              <a:tblGrid>
                <a:gridCol w="264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Name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Enrollment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Vidhan Nahar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AU2340199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Shubham Mehta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AU2340210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Yashvi Jakharia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AU2340100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Jash Aghicha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lt1"/>
                          </a:solidFill>
                        </a:rPr>
                        <a:t>AU2320253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>
            <a:spLocks noGrp="1"/>
          </p:cNvSpPr>
          <p:nvPr>
            <p:ph type="title"/>
          </p:nvPr>
        </p:nvSpPr>
        <p:spPr>
          <a:xfrm>
            <a:off x="582428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96" name="Google Shape;96;p3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Helvetica Neue"/>
              <a:buChar char="•"/>
            </a:pPr>
            <a:r>
              <a:rPr lang="en-US" sz="2600" b="1">
                <a:latin typeface="Helvetica Neue"/>
                <a:ea typeface="Helvetica Neue"/>
                <a:cs typeface="Helvetica Neue"/>
                <a:sym typeface="Helvetica Neue"/>
              </a:rPr>
              <a:t>Objective:</a:t>
            </a: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 Develop an offline multi-object tracking (MOT) system to handle missing detections and reconstruct object trajectories.</a:t>
            </a:r>
            <a:b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Helvetica Neue"/>
              <a:buChar char="•"/>
            </a:pPr>
            <a:r>
              <a:rPr lang="en-US" sz="2600" b="1">
                <a:latin typeface="Helvetica Neue"/>
                <a:ea typeface="Helvetica Neue"/>
                <a:cs typeface="Helvetica Neue"/>
                <a:sym typeface="Helvetica Neue"/>
              </a:rPr>
              <a:t>The Challenge:</a:t>
            </a: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 Maintaining continuous trajectories is difficult due to gaps caused by obstructions, sensor malfunctions, and random factors.</a:t>
            </a:r>
            <a:b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Font typeface="Helvetica Neue"/>
              <a:buChar char="•"/>
            </a:pPr>
            <a:r>
              <a:rPr lang="en-US" sz="2600" b="1">
                <a:latin typeface="Helvetica Neue"/>
                <a:ea typeface="Helvetica Neue"/>
                <a:cs typeface="Helvetica Neue"/>
                <a:sym typeface="Helvetica Neue"/>
              </a:rPr>
              <a:t>Impact:</a:t>
            </a: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 These invasions lead to fragmented tracks, significantly reducing tracking accuracy in UAV surveillance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e7a64409c_0_0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Dataset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/>
          </a:p>
        </p:txBody>
      </p:sp>
      <p:sp>
        <p:nvSpPr>
          <p:cNvPr id="104" name="Google Shape;104;g3de7a64409c_0_0"/>
          <p:cNvSpPr txBox="1">
            <a:spLocks noGrp="1"/>
          </p:cNvSpPr>
          <p:nvPr>
            <p:ph type="body" idx="1"/>
          </p:nvPr>
        </p:nvSpPr>
        <p:spPr>
          <a:xfrm>
            <a:off x="594300" y="1508275"/>
            <a:ext cx="79665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Helvetica Neue"/>
              <a:buChar char="•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We used the </a:t>
            </a:r>
            <a:r>
              <a:rPr lang="en-US" sz="2100" b="1">
                <a:latin typeface="Helvetica Neue"/>
                <a:ea typeface="Helvetica Neue"/>
                <a:cs typeface="Helvetica Neue"/>
                <a:sym typeface="Helvetica Neue"/>
              </a:rPr>
              <a:t>VisDrone2019-MOT dataset</a:t>
            </a: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 for training and evaluation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Helvetica Neue"/>
              <a:buChar char="•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Collected using </a:t>
            </a:r>
            <a:r>
              <a:rPr lang="en-US" sz="2100" b="1">
                <a:latin typeface="Helvetica Neue"/>
                <a:ea typeface="Helvetica Neue"/>
                <a:cs typeface="Helvetica Neue"/>
                <a:sym typeface="Helvetica Neue"/>
              </a:rPr>
              <a:t>UAV (drone) cameras</a:t>
            </a: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 in real-world environments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Helvetica Neue"/>
              <a:buChar char="•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Contains: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Helvetica Neue"/>
              <a:buChar char="•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Urban streets, intersections, parking areas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Helvetica Neue"/>
              <a:buChar char="●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Multiple object classes (cars, pedestrians, etc.)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Helvetica Neue"/>
              <a:buChar char="●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Provides: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Helvetica Neue"/>
              <a:buChar char="○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Frame-wise image sequences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Helvetica Neue"/>
              <a:buChar char="○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Ground truth annotations for tracking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" name="Google Shape;105;g3de7a64409c_0_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3</a:t>
            </a:fld>
            <a:endParaRPr b="0"/>
          </a:p>
        </p:txBody>
      </p:sp>
      <p:pic>
        <p:nvPicPr>
          <p:cNvPr id="106" name="Google Shape;106;g3de7a64409c_0_0" title="vertical_dataset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7975" y="928387"/>
            <a:ext cx="2695796" cy="438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a0de8e63f_2_7"/>
          <p:cNvSpPr txBox="1">
            <a:spLocks noGrp="1"/>
          </p:cNvSpPr>
          <p:nvPr>
            <p:ph type="title"/>
          </p:nvPr>
        </p:nvSpPr>
        <p:spPr>
          <a:xfrm>
            <a:off x="587378" y="-275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12" name="Google Shape;112;g38a0de8e63f_2_7"/>
          <p:cNvSpPr txBox="1">
            <a:spLocks noGrp="1"/>
          </p:cNvSpPr>
          <p:nvPr>
            <p:ph type="body" idx="1"/>
          </p:nvPr>
        </p:nvSpPr>
        <p:spPr>
          <a:xfrm>
            <a:off x="649799" y="1253400"/>
            <a:ext cx="108924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Helvetica Neue"/>
              <a:buChar char="●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Existing MOT methods struggle with </a:t>
            </a:r>
            <a:r>
              <a:rPr lang="en-US" sz="2200" b="1">
                <a:latin typeface="Helvetica Neue"/>
                <a:ea typeface="Helvetica Neue"/>
                <a:cs typeface="Helvetica Neue"/>
                <a:sym typeface="Helvetica Neue"/>
              </a:rPr>
              <a:t>handling missing detections effectively</a:t>
            </a:r>
            <a:endParaRPr sz="22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●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Traditional approaches: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○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Tracking-by-detection models (limited in gaps)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○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Kalman Filter (assumes simple motion)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●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Research highlights: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○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Hybrid models improve robustness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○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ML-based prediction helps in complex scenarios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●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Gap identified: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68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Helvetica Neue"/>
              <a:buChar char="○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Lack of </a:t>
            </a:r>
            <a:r>
              <a:rPr lang="en-US" sz="2200" b="1">
                <a:latin typeface="Helvetica Neue"/>
                <a:ea typeface="Helvetica Neue"/>
                <a:cs typeface="Helvetica Neue"/>
                <a:sym typeface="Helvetica Neue"/>
              </a:rPr>
              <a:t>adaptive method selection for different gap sizes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g38a0de8e63f_2_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60d2e9682_0_1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Overview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/>
          </a:p>
        </p:txBody>
      </p:sp>
      <p:sp>
        <p:nvSpPr>
          <p:cNvPr id="120" name="Google Shape;120;g3960d2e9682_0_1"/>
          <p:cNvSpPr txBox="1">
            <a:spLocks noGrp="1"/>
          </p:cNvSpPr>
          <p:nvPr>
            <p:ph type="body" idx="1"/>
          </p:nvPr>
        </p:nvSpPr>
        <p:spPr>
          <a:xfrm>
            <a:off x="594302" y="15082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457200" lvl="0" indent="-3619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Helvetica Neue"/>
              <a:buChar char="●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Developed an </a:t>
            </a:r>
            <a:r>
              <a:rPr lang="en-US" sz="2100" b="1">
                <a:latin typeface="Helvetica Neue"/>
                <a:ea typeface="Helvetica Neue"/>
                <a:cs typeface="Helvetica Neue"/>
                <a:sym typeface="Helvetica Neue"/>
              </a:rPr>
              <a:t>offline trajectory reconstruction system</a:t>
            </a:r>
            <a:endParaRPr sz="21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elvetica Neue"/>
              <a:buChar char="●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Uses </a:t>
            </a:r>
            <a:r>
              <a:rPr lang="en-US" sz="2100" b="1">
                <a:latin typeface="Helvetica Neue"/>
                <a:ea typeface="Helvetica Neue"/>
                <a:cs typeface="Helvetica Neue"/>
                <a:sym typeface="Helvetica Neue"/>
              </a:rPr>
              <a:t>VisDrone2019-MOT dataset</a:t>
            </a:r>
            <a:endParaRPr sz="21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elvetica Neue"/>
              <a:buChar char="●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Combines: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elvetica Neue"/>
              <a:buChar char="○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Linear Interpolation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elvetica Neue"/>
              <a:buChar char="○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Kalman Filtering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elvetica Neue"/>
              <a:buChar char="○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Random Forest Regressor</a:t>
            </a:r>
            <a:b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elvetica Neue"/>
              <a:buChar char="●"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Key idea: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elvetica Neue"/>
              <a:buChar char="○"/>
            </a:pPr>
            <a:r>
              <a:rPr lang="en-US" sz="2100" b="1">
                <a:latin typeface="Helvetica Neue"/>
                <a:ea typeface="Helvetica Neue"/>
                <a:cs typeface="Helvetica Neue"/>
                <a:sym typeface="Helvetica Neue"/>
              </a:rPr>
              <a:t>Hybrid Decision Fusion</a:t>
            </a: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 based on gap size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g3960d2e9682_0_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5</a:t>
            </a:fld>
            <a:endParaRPr b="0"/>
          </a:p>
        </p:txBody>
      </p:sp>
      <p:pic>
        <p:nvPicPr>
          <p:cNvPr id="122" name="Google Shape;122;g3960d2e9682_0_1" title="Gemini_Generated_Image_wbt01zwbt01zwbt0.png"/>
          <p:cNvPicPr preferRelativeResize="0"/>
          <p:nvPr/>
        </p:nvPicPr>
        <p:blipFill rotWithShape="1">
          <a:blip r:embed="rId3">
            <a:alphaModFix/>
          </a:blip>
          <a:srcRect l="8489" r="7871"/>
          <a:stretch/>
        </p:blipFill>
        <p:spPr>
          <a:xfrm>
            <a:off x="8783050" y="461200"/>
            <a:ext cx="2426374" cy="549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60d2e9682_0_19"/>
          <p:cNvSpPr txBox="1">
            <a:spLocks noGrp="1"/>
          </p:cNvSpPr>
          <p:nvPr>
            <p:ph type="title"/>
          </p:nvPr>
        </p:nvSpPr>
        <p:spPr>
          <a:xfrm>
            <a:off x="587378" y="-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128" name="Google Shape;128;g3960d2e9682_0_19"/>
          <p:cNvSpPr txBox="1">
            <a:spLocks noGrp="1"/>
          </p:cNvSpPr>
          <p:nvPr>
            <p:ph type="body" idx="1"/>
          </p:nvPr>
        </p:nvSpPr>
        <p:spPr>
          <a:xfrm>
            <a:off x="298650" y="1418325"/>
            <a:ext cx="11594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latin typeface="Helvetica Neue"/>
                <a:ea typeface="Helvetica Neue"/>
                <a:cs typeface="Helvetica Neue"/>
                <a:sym typeface="Helvetica Neue"/>
              </a:rPr>
              <a:t>Step 1:</a:t>
            </a:r>
            <a:r>
              <a:rPr lang="en-US" sz="2300">
                <a:latin typeface="Helvetica Neue"/>
                <a:ea typeface="Helvetica Neue"/>
                <a:cs typeface="Helvetica Neue"/>
                <a:sym typeface="Helvetica Neue"/>
              </a:rPr>
              <a:t> Data preparation &amp; feature extraction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latin typeface="Helvetica Neue"/>
                <a:ea typeface="Helvetica Neue"/>
                <a:cs typeface="Helvetica Neue"/>
                <a:sym typeface="Helvetica Neue"/>
              </a:rPr>
              <a:t>Step 2:</a:t>
            </a:r>
            <a:r>
              <a:rPr lang="en-US" sz="2300">
                <a:latin typeface="Helvetica Neue"/>
                <a:ea typeface="Helvetica Neue"/>
                <a:cs typeface="Helvetica Neue"/>
                <a:sym typeface="Helvetica Neue"/>
              </a:rPr>
              <a:t> Simulate missing detections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latin typeface="Helvetica Neue"/>
                <a:ea typeface="Helvetica Neue"/>
                <a:cs typeface="Helvetica Neue"/>
                <a:sym typeface="Helvetica Neue"/>
              </a:rPr>
              <a:t>Step 3:</a:t>
            </a:r>
            <a:r>
              <a:rPr lang="en-US" sz="2300">
                <a:latin typeface="Helvetica Neue"/>
                <a:ea typeface="Helvetica Neue"/>
                <a:cs typeface="Helvetica Neue"/>
                <a:sym typeface="Helvetica Neue"/>
              </a:rPr>
              <a:t> Apply predictive models: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0" indent="-3746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Helvetica Neue"/>
              <a:buChar char="●"/>
            </a:pPr>
            <a:r>
              <a:rPr lang="en-US" sz="2300">
                <a:latin typeface="Helvetica Neue"/>
                <a:ea typeface="Helvetica Neue"/>
                <a:cs typeface="Helvetica Neue"/>
                <a:sym typeface="Helvetica Neue"/>
              </a:rPr>
              <a:t>Interpolation (small gaps)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Helvetica Neue"/>
              <a:buChar char="●"/>
            </a:pPr>
            <a:r>
              <a:rPr lang="en-US" sz="2300">
                <a:latin typeface="Helvetica Neue"/>
                <a:ea typeface="Helvetica Neue"/>
                <a:cs typeface="Helvetica Neue"/>
                <a:sym typeface="Helvetica Neue"/>
              </a:rPr>
              <a:t>Kalman Filter (medium gaps)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Helvetica Neue"/>
              <a:buChar char="●"/>
            </a:pPr>
            <a:r>
              <a:rPr lang="en-US" sz="2300">
                <a:latin typeface="Helvetica Neue"/>
                <a:ea typeface="Helvetica Neue"/>
                <a:cs typeface="Helvetica Neue"/>
                <a:sym typeface="Helvetica Neue"/>
              </a:rPr>
              <a:t>ML model (large gaps)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 b="1">
                <a:latin typeface="Helvetica Neue"/>
                <a:ea typeface="Helvetica Neue"/>
                <a:cs typeface="Helvetica Neue"/>
                <a:sym typeface="Helvetica Neue"/>
              </a:rPr>
              <a:t>Step 4:</a:t>
            </a:r>
            <a:r>
              <a:rPr lang="en-US" sz="2300">
                <a:latin typeface="Helvetica Neue"/>
                <a:ea typeface="Helvetica Neue"/>
                <a:cs typeface="Helvetica Neue"/>
                <a:sym typeface="Helvetica Neue"/>
              </a:rPr>
              <a:t> Apply smoothing constraints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latin typeface="Helvetica Neue"/>
                <a:ea typeface="Helvetica Neue"/>
                <a:cs typeface="Helvetica Neue"/>
                <a:sym typeface="Helvetica Neue"/>
              </a:rPr>
              <a:t>Step 5:</a:t>
            </a:r>
            <a:r>
              <a:rPr lang="en-US" sz="2300">
                <a:latin typeface="Helvetica Neue"/>
                <a:ea typeface="Helvetica Neue"/>
                <a:cs typeface="Helvetica Neue"/>
                <a:sym typeface="Helvetica Neue"/>
              </a:rPr>
              <a:t> Fuse outputs </a:t>
            </a: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g3960d2e9682_0_1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a0de8e63f_2_0"/>
          <p:cNvSpPr txBox="1">
            <a:spLocks noGrp="1"/>
          </p:cNvSpPr>
          <p:nvPr>
            <p:ph type="title"/>
          </p:nvPr>
        </p:nvSpPr>
        <p:spPr>
          <a:xfrm>
            <a:off x="587378" y="-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Methodology: Core Predictive Models</a:t>
            </a:r>
            <a:endParaRPr/>
          </a:p>
        </p:txBody>
      </p:sp>
      <p:sp>
        <p:nvSpPr>
          <p:cNvPr id="135" name="Google Shape;135;g38a0de8e63f_2_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36" name="Google Shape;136;g38a0de8e63f_2_0"/>
          <p:cNvSpPr txBox="1"/>
          <p:nvPr/>
        </p:nvSpPr>
        <p:spPr>
          <a:xfrm>
            <a:off x="2170800" y="6242525"/>
            <a:ext cx="675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(Wojke et al., 2017)</a:t>
            </a:r>
            <a:endParaRPr sz="18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7" name="Google Shape;137;g38a0de8e63f_2_0"/>
          <p:cNvSpPr txBox="1"/>
          <p:nvPr/>
        </p:nvSpPr>
        <p:spPr>
          <a:xfrm>
            <a:off x="750875" y="1418625"/>
            <a:ext cx="10051800" cy="3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●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Linear Interpolation: Geometry based filling between past and future frames for simple gaps.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●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Kalman Filtering (Constant Velocity):  State: </a:t>
            </a:r>
            <a:r>
              <a:rPr lang="en-US" sz="230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[x, y, v_x, v_y, w, h].</a:t>
            </a:r>
            <a:endParaRPr sz="2300" i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○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Measurement: </a:t>
            </a:r>
            <a:r>
              <a:rPr lang="en-US" sz="230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[x, y, w, h]</a:t>
            </a: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○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Recursively updates when data is present and predicts future states during gaps.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●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Machine Learning Regressor: Uses a Random Forest Regressor.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"/>
              <a:buChar char="○"/>
            </a:pPr>
            <a:r>
              <a:rPr lang="en-US" sz="2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Features: Last observed bounding box, historical velocity, and current gap size.</a:t>
            </a:r>
            <a:endParaRPr sz="2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785840838_0_7"/>
          <p:cNvSpPr txBox="1">
            <a:spLocks noGrp="1"/>
          </p:cNvSpPr>
          <p:nvPr>
            <p:ph type="title"/>
          </p:nvPr>
        </p:nvSpPr>
        <p:spPr>
          <a:xfrm>
            <a:off x="587378" y="-2837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Methodology: Hybrid Decision Fusion</a:t>
            </a:r>
            <a:endParaRPr/>
          </a:p>
        </p:txBody>
      </p:sp>
      <p:sp>
        <p:nvSpPr>
          <p:cNvPr id="143" name="Google Shape;143;g3d785840838_0_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44" name="Google Shape;144;g3d785840838_0_7"/>
          <p:cNvSpPr txBox="1"/>
          <p:nvPr/>
        </p:nvSpPr>
        <p:spPr>
          <a:xfrm>
            <a:off x="979500" y="1201575"/>
            <a:ext cx="10022100" cy="46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Classification: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system automatically selects the best model based on the "seriousness" of the gap: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 Gaps (&lt;= 2 frames):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Linear Interpolation for high-confidence local recovery.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Medium Gaps (3–5 frames):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Kalman Filter combined with Spatio-Temporal smoothing.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Big Gaps (&gt; 5 frames):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Weighted Fusion (60% Kalman, 20% Interpolation, 20% Random Forest).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Post-Processing Constraints: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elvetica Neue"/>
              <a:buChar char="●"/>
            </a:pPr>
            <a:r>
              <a:rPr lang="en-US" sz="21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Velocity Clamping: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Limits sudden spikes in motion.</a:t>
            </a:r>
            <a:endParaRPr sz="2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Size Consistency:</a:t>
            </a:r>
            <a:r>
              <a:rPr lang="en-US" sz="2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Prevents bounding boxes from ballooning or collapsing.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g3d785840838_0_7"/>
          <p:cNvSpPr txBox="1"/>
          <p:nvPr/>
        </p:nvSpPr>
        <p:spPr>
          <a:xfrm>
            <a:off x="1641225" y="6341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(Zhu et al., 2018)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60d2e9682_0_27"/>
          <p:cNvSpPr txBox="1">
            <a:spLocks noGrp="1"/>
          </p:cNvSpPr>
          <p:nvPr>
            <p:ph type="title"/>
          </p:nvPr>
        </p:nvSpPr>
        <p:spPr>
          <a:xfrm>
            <a:off x="587375" y="558125"/>
            <a:ext cx="10515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Results and Evaluation</a:t>
            </a:r>
            <a:endParaRPr/>
          </a:p>
        </p:txBody>
      </p:sp>
      <p:sp>
        <p:nvSpPr>
          <p:cNvPr id="151" name="Google Shape;151;g3960d2e9682_0_27"/>
          <p:cNvSpPr txBox="1">
            <a:spLocks noGrp="1"/>
          </p:cNvSpPr>
          <p:nvPr>
            <p:ph type="body" idx="1"/>
          </p:nvPr>
        </p:nvSpPr>
        <p:spPr>
          <a:xfrm>
            <a:off x="587375" y="1378075"/>
            <a:ext cx="11412600" cy="45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Helvetica Neue"/>
                <a:ea typeface="Helvetica Neue"/>
                <a:cs typeface="Helvetica Neue"/>
                <a:sym typeface="Helvetica Neue"/>
              </a:rPr>
              <a:t>Quantitative Metrics Overview:</a:t>
            </a:r>
            <a:endParaRPr sz="20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 b="1">
                <a:latin typeface="Helvetica Neue"/>
                <a:ea typeface="Helvetica Neue"/>
                <a:cs typeface="Helvetica Neue"/>
                <a:sym typeface="Helvetica Neue"/>
              </a:rPr>
              <a:t>Intersection over Union (IoU):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 The system achieved a mean IoU of </a:t>
            </a:r>
            <a:r>
              <a:rPr lang="en-US" sz="2000" b="1">
                <a:latin typeface="Helvetica Neue"/>
                <a:ea typeface="Helvetica Neue"/>
                <a:cs typeface="Helvetica Neue"/>
                <a:sym typeface="Helvetica Neue"/>
              </a:rPr>
              <a:t>0.600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, indicating strong geometric alignment between predicted and actual bounding boxes.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 b="1">
                <a:latin typeface="Helvetica Neue"/>
                <a:ea typeface="Helvetica Neue"/>
                <a:cs typeface="Helvetica Neue"/>
                <a:sym typeface="Helvetica Neue"/>
              </a:rPr>
              <a:t>Center Error: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 The mean Euclidean distance between the predicted center and ground truth center is 15 pixels.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 b="1">
                <a:latin typeface="Helvetica Neue"/>
                <a:ea typeface="Helvetica Neue"/>
                <a:cs typeface="Helvetica Neue"/>
                <a:sym typeface="Helvetica Neue"/>
              </a:rPr>
              <a:t>Kinematic Realism: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 Low "Jerk" (acceleration change rate) values confirm physically realistic movement during trajectory reconstruction.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●"/>
            </a:pPr>
            <a:r>
              <a:rPr lang="en-US" sz="2000" b="1">
                <a:latin typeface="Helvetica Neue"/>
                <a:ea typeface="Helvetica Neue"/>
                <a:cs typeface="Helvetica Neue"/>
                <a:sym typeface="Helvetica Neue"/>
              </a:rPr>
              <a:t>MOTA: 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Measures overall tracking performance by combining false positives, false negatives, and identity switches into a single metric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●"/>
            </a:pPr>
            <a:r>
              <a:rPr lang="en-US" sz="2000" b="1">
                <a:latin typeface="Helvetica Neue"/>
                <a:ea typeface="Helvetica Neue"/>
                <a:cs typeface="Helvetica Neue"/>
                <a:sym typeface="Helvetica Neue"/>
              </a:rPr>
              <a:t>IDF1:  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Measures accuracy of ID consistency by comparing actual and predicted IDs.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g3960d2e9682_0_2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784b425ce_0_7"/>
          <p:cNvSpPr txBox="1">
            <a:spLocks noGrp="1"/>
          </p:cNvSpPr>
          <p:nvPr>
            <p:ph type="title"/>
          </p:nvPr>
        </p:nvSpPr>
        <p:spPr>
          <a:xfrm>
            <a:off x="587375" y="260350"/>
            <a:ext cx="10515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Results and Evaluation</a:t>
            </a:r>
            <a:endParaRPr/>
          </a:p>
        </p:txBody>
      </p:sp>
      <p:sp>
        <p:nvSpPr>
          <p:cNvPr id="158" name="Google Shape;158;g3d784b425ce_0_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59" name="Google Shape;159;g3d784b425ce_0_7" title="evaluation_summary.png"/>
          <p:cNvPicPr preferRelativeResize="0"/>
          <p:nvPr/>
        </p:nvPicPr>
        <p:blipFill rotWithShape="1">
          <a:blip r:embed="rId3">
            <a:alphaModFix/>
          </a:blip>
          <a:srcRect l="50174" t="8025" b="-695"/>
          <a:stretch/>
        </p:blipFill>
        <p:spPr>
          <a:xfrm>
            <a:off x="2050215" y="1241375"/>
            <a:ext cx="8091579" cy="488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60d2e9682_0_3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11</a:t>
            </a:fld>
            <a:endParaRPr b="0"/>
          </a:p>
        </p:txBody>
      </p:sp>
      <p:sp>
        <p:nvSpPr>
          <p:cNvPr id="165" name="Google Shape;165;g3960d2e9682_0_34"/>
          <p:cNvSpPr txBox="1"/>
          <p:nvPr/>
        </p:nvSpPr>
        <p:spPr>
          <a:xfrm>
            <a:off x="921150" y="3428988"/>
            <a:ext cx="103497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889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Green bounding boxes represent those that are already included while red ones are the ones predicted from missing detections.</a:t>
            </a:r>
            <a:endParaRPr sz="22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Observations:</a:t>
            </a:r>
            <a:endParaRPr sz="22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lang="en-US" sz="2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accurate tracking </a:t>
            </a:r>
            <a:endParaRPr sz="22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lang="en-US" sz="2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Good curvilinear motion </a:t>
            </a:r>
            <a:endParaRPr sz="22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elvetica Neue"/>
              <a:buChar char="●"/>
            </a:pPr>
            <a:r>
              <a:rPr lang="en-US" sz="22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Consistent IDs.</a:t>
            </a:r>
            <a:endParaRPr sz="22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g3960d2e9682_0_34"/>
          <p:cNvSpPr txBox="1"/>
          <p:nvPr/>
        </p:nvSpPr>
        <p:spPr>
          <a:xfrm>
            <a:off x="9105025" y="4569900"/>
            <a:ext cx="27048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MOTA: 61</a:t>
            </a:r>
            <a:endParaRPr sz="2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IDF1: 58</a:t>
            </a:r>
            <a:endParaRPr sz="28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7" name="Google Shape;167;g3960d2e9682_0_34" title="output.png"/>
          <p:cNvPicPr preferRelativeResize="0"/>
          <p:nvPr/>
        </p:nvPicPr>
        <p:blipFill rotWithShape="1">
          <a:blip r:embed="rId3">
            <a:alphaModFix/>
          </a:blip>
          <a:srcRect l="19957" r="20113"/>
          <a:stretch/>
        </p:blipFill>
        <p:spPr>
          <a:xfrm>
            <a:off x="516550" y="301275"/>
            <a:ext cx="11293276" cy="277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784b425ce_0_22"/>
          <p:cNvSpPr txBox="1">
            <a:spLocks noGrp="1"/>
          </p:cNvSpPr>
          <p:nvPr>
            <p:ph type="title"/>
          </p:nvPr>
        </p:nvSpPr>
        <p:spPr>
          <a:xfrm>
            <a:off x="567497" y="538650"/>
            <a:ext cx="105156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Future Scope</a:t>
            </a:r>
            <a:endParaRPr/>
          </a:p>
        </p:txBody>
      </p:sp>
      <p:sp>
        <p:nvSpPr>
          <p:cNvPr id="173" name="Google Shape;173;g3d784b425ce_0_22"/>
          <p:cNvSpPr txBox="1">
            <a:spLocks noGrp="1"/>
          </p:cNvSpPr>
          <p:nvPr>
            <p:ph type="body" idx="1"/>
          </p:nvPr>
        </p:nvSpPr>
        <p:spPr>
          <a:xfrm>
            <a:off x="587375" y="1457850"/>
            <a:ext cx="11126400" cy="3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>
                <a:latin typeface="Helvetica Neue"/>
                <a:ea typeface="Helvetica Neue"/>
                <a:cs typeface="Helvetica Neue"/>
                <a:sym typeface="Helvetica Neue"/>
              </a:rPr>
              <a:t>Non-Linear Dynamics: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Implementing Extended or Unscented Kalman Filters to better model complex, sharp drone maneuvers.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>
                <a:latin typeface="Helvetica Neue"/>
                <a:ea typeface="Helvetica Neue"/>
                <a:cs typeface="Helvetica Neue"/>
                <a:sym typeface="Helvetica Neue"/>
              </a:rPr>
              <a:t>Deep Learning Expansion: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Moving from Random Forest to architectures like LSTMs or Transformers for better long-term temporal dependencies.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b="1">
                <a:latin typeface="Helvetica Neue"/>
                <a:ea typeface="Helvetica Neue"/>
                <a:cs typeface="Helvetica Neue"/>
                <a:sym typeface="Helvetica Neue"/>
              </a:rPr>
              <a:t>Real-time Deployment: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Optimizing the fusion engine for live UAV surveillance rather than strictly offline post-processing.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2400"/>
              <a:buFont typeface="Arial"/>
              <a:buChar char="•"/>
            </a:pPr>
            <a:r>
              <a:rPr lang="en-US" b="1">
                <a:latin typeface="Helvetica Neue"/>
                <a:ea typeface="Helvetica Neue"/>
                <a:cs typeface="Helvetica Neue"/>
                <a:sym typeface="Helvetica Neue"/>
              </a:rPr>
              <a:t>Multi-Sensor Fusion: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Integrating thermal or infrared data to assist in tracking during low-visibility conditions.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g3d784b425ce_0_2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78d01c4a9_0_0"/>
          <p:cNvSpPr txBox="1">
            <a:spLocks noGrp="1"/>
          </p:cNvSpPr>
          <p:nvPr>
            <p:ph type="title"/>
          </p:nvPr>
        </p:nvSpPr>
        <p:spPr>
          <a:xfrm>
            <a:off x="708978" y="-40250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80" name="Google Shape;180;g3d78d01c4a9_0_0"/>
          <p:cNvSpPr txBox="1">
            <a:spLocks noGrp="1"/>
          </p:cNvSpPr>
          <p:nvPr>
            <p:ph type="body" idx="1"/>
          </p:nvPr>
        </p:nvSpPr>
        <p:spPr>
          <a:xfrm>
            <a:off x="298775" y="991050"/>
            <a:ext cx="11055000" cy="48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Bewley, A., Ge, Z., Ott, L., Ramos, F., &amp; Upcroft, B. (2016). Simple online and realtime tracking. In </a:t>
            </a:r>
            <a:r>
              <a:rPr lang="en-US" sz="1400" i="1">
                <a:latin typeface="Helvetica Neue"/>
                <a:ea typeface="Helvetica Neue"/>
                <a:cs typeface="Helvetica Neue"/>
                <a:sym typeface="Helvetica Neue"/>
              </a:rPr>
              <a:t>Proceedings of the IEEE International Conference on Image Processing (ICIP)</a:t>
            </a: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Bochinski, E., Eiselein, V., &amp; Sikora, T. (2017). High-speed tracking-by-detection without using image information. In </a:t>
            </a:r>
            <a:r>
              <a:rPr lang="en-US" sz="1400" i="1">
                <a:latin typeface="Helvetica Neue"/>
                <a:ea typeface="Helvetica Neue"/>
                <a:cs typeface="Helvetica Neue"/>
                <a:sym typeface="Helvetica Neue"/>
              </a:rPr>
              <a:t>Proceedings of the IEEE Conference on Advanced Video and Signal Based Surveillance (AVSS)</a:t>
            </a: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Butt, A., &amp; Collins, R. (2013). Multi-target tracking by Lagrangian relaxation to min-cost network flow. In </a:t>
            </a:r>
            <a:r>
              <a:rPr lang="en-US" sz="1400" i="1">
                <a:latin typeface="Helvetica Neue"/>
                <a:ea typeface="Helvetica Neue"/>
                <a:cs typeface="Helvetica Neue"/>
                <a:sym typeface="Helvetica Neue"/>
              </a:rPr>
              <a:t>Proceedings of the IEEE Conference on Computer Vision and Pattern Recognition (CVPR)</a:t>
            </a: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Kalman, R. E. (1960). A new approach to linear filtering and prediction problems. </a:t>
            </a:r>
            <a:r>
              <a:rPr lang="en-US" sz="1400" i="1">
                <a:latin typeface="Helvetica Neue"/>
                <a:ea typeface="Helvetica Neue"/>
                <a:cs typeface="Helvetica Neue"/>
                <a:sym typeface="Helvetica Neue"/>
              </a:rPr>
              <a:t>Journal of Basic Engineering</a:t>
            </a: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00" i="1">
                <a:latin typeface="Helvetica Neue"/>
                <a:ea typeface="Helvetica Neue"/>
                <a:cs typeface="Helvetica Neue"/>
                <a:sym typeface="Helvetica Neue"/>
              </a:rPr>
              <a:t>82</a:t>
            </a: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(1), 35–45.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Kuhn, H. W. (1955). The Hungarian method for the assignment problem. </a:t>
            </a:r>
            <a:r>
              <a:rPr lang="en-US" sz="1400" i="1">
                <a:latin typeface="Helvetica Neue"/>
                <a:ea typeface="Helvetica Neue"/>
                <a:cs typeface="Helvetica Neue"/>
                <a:sym typeface="Helvetica Neue"/>
              </a:rPr>
              <a:t>Naval Research Logistics Quarterly</a:t>
            </a: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00" i="1"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(1–2), 83–97.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Luo, W., Xing, J., Milan, A., Zhang, X., Liu, W., &amp; Kim, T.-K. (2021). Multiple object tracking: A literature review. </a:t>
            </a:r>
            <a:r>
              <a:rPr lang="en-US" sz="1400" i="1">
                <a:latin typeface="Helvetica Neue"/>
                <a:ea typeface="Helvetica Neue"/>
                <a:cs typeface="Helvetica Neue"/>
                <a:sym typeface="Helvetica Neue"/>
              </a:rPr>
              <a:t>Artificial Intelligence</a:t>
            </a: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00" i="1">
                <a:latin typeface="Helvetica Neue"/>
                <a:ea typeface="Helvetica Neue"/>
                <a:cs typeface="Helvetica Neue"/>
                <a:sym typeface="Helvetica Neue"/>
              </a:rPr>
              <a:t>293</a:t>
            </a: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, 103448.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Pedregosa, F., Varoquaux, G., Gramfort, A., Michel, V., Thirion, B., Grisel, O., Blondel, M., Prettenhofer, P., Weiss, R., Dubourg, V., Vanderplas, J., Passos, A., Cournapeau, D., Brucher, M., Perrot, M., &amp; Duchesnay, E. (2011). Scikit-learn: Machine learning in Python. </a:t>
            </a:r>
            <a:r>
              <a:rPr lang="en-US" sz="1400" i="1">
                <a:latin typeface="Helvetica Neue"/>
                <a:ea typeface="Helvetica Neue"/>
                <a:cs typeface="Helvetica Neue"/>
                <a:sym typeface="Helvetica Neue"/>
              </a:rPr>
              <a:t>Journal of Machine Learning Research</a:t>
            </a: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400" i="1"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, 2825–2830.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Zhu, Z., Luo, H., Wei, X., Ye, Y., Ren, W., Wang, H., &amp; Wen, L. (2019). VisDrone-MOT2019: The vision meets drone multiple object tracking challenge results. In </a:t>
            </a:r>
            <a:r>
              <a:rPr lang="en-US" sz="1400" i="1">
                <a:latin typeface="Helvetica Neue"/>
                <a:ea typeface="Helvetica Neue"/>
                <a:cs typeface="Helvetica Neue"/>
                <a:sym typeface="Helvetica Neue"/>
              </a:rPr>
              <a:t>Proceedings of the IEEE/CVF International Conference on Computer Vision (ICCV) Workshops</a:t>
            </a: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g3d78d01c4a9_0_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a0de8e63f_2_35"/>
          <p:cNvSpPr txBox="1">
            <a:spLocks noGrp="1"/>
          </p:cNvSpPr>
          <p:nvPr>
            <p:ph type="title"/>
          </p:nvPr>
        </p:nvSpPr>
        <p:spPr>
          <a:xfrm>
            <a:off x="3940350" y="3001350"/>
            <a:ext cx="43113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5400">
                <a:latin typeface="Arial"/>
                <a:ea typeface="Arial"/>
                <a:cs typeface="Arial"/>
                <a:sym typeface="Arial"/>
              </a:rPr>
              <a:t>THANK YOU</a:t>
            </a:r>
            <a:endParaRPr sz="5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1096</Words>
  <Application>Microsoft Office PowerPoint</Application>
  <PresentationFormat>Widescreen</PresentationFormat>
  <Paragraphs>116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Helvetica Neue Light</vt:lpstr>
      <vt:lpstr>Helvetica Neue</vt:lpstr>
      <vt:lpstr>Calibri</vt:lpstr>
      <vt:lpstr>Office Theme</vt:lpstr>
      <vt:lpstr>CSE623-Machine Learning </vt:lpstr>
      <vt:lpstr>Problem Statement</vt:lpstr>
      <vt:lpstr>Dataset </vt:lpstr>
      <vt:lpstr>Literature Review</vt:lpstr>
      <vt:lpstr>Overview </vt:lpstr>
      <vt:lpstr>Methodology</vt:lpstr>
      <vt:lpstr> Methodology: Core Predictive Models</vt:lpstr>
      <vt:lpstr>Methodology: Hybrid Decision Fusion</vt:lpstr>
      <vt:lpstr>Results and Evaluation</vt:lpstr>
      <vt:lpstr>Results and Evaluation</vt:lpstr>
      <vt:lpstr>PowerPoint Presentation</vt:lpstr>
      <vt:lpstr>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Vidhan Nahar</cp:lastModifiedBy>
  <cp:revision>2</cp:revision>
  <dcterms:modified xsi:type="dcterms:W3CDTF">2026-04-14T18:39:41Z</dcterms:modified>
</cp:coreProperties>
</file>