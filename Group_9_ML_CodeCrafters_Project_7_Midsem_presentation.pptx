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4XNwuMsDiLtzLZVoEdmpwvX0Q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38CAF3-27BF-4CEA-A4B5-65035D36A97C}">
  <a:tblStyle styleId="{9938CAF3-27BF-4CEA-A4B5-65035D36A97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60d2e968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960d2e968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960d2e9682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0d2e9682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960d2e9682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784b425c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d784b425c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784b425c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d784b425c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60d2e9682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960d2e9682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84b425ce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d784b425ce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78dfb8fc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d78dfb8fc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60d2e9682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960d2e9682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78d01c4a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d78d01c4a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a0de8e63f_2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8a0de8e63f_2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rxiv.org/abs/1703.07402" TargetMode="External"/><Relationship Id="rId4" Type="http://schemas.openxmlformats.org/officeDocument/2006/relationships/hyperlink" Target="https://arxiv.org/abs/1804.07437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730050" y="3164925"/>
            <a:ext cx="107319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CSE623-Machine Learning </a:t>
            </a:r>
            <a:endParaRPr sz="4300"/>
          </a:p>
        </p:txBody>
      </p:sp>
      <p:sp>
        <p:nvSpPr>
          <p:cNvPr id="89" name="Google Shape;89;p1"/>
          <p:cNvSpPr txBox="1"/>
          <p:nvPr/>
        </p:nvSpPr>
        <p:spPr>
          <a:xfrm>
            <a:off x="414000" y="4154575"/>
            <a:ext cx="5682000" cy="22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- 9 ML Code Crafters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title: Offline Track Association Problem [UAV Videos]</a:t>
            </a:r>
            <a:endParaRPr b="1" i="0" sz="2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90" name="Google Shape;90;p1"/>
          <p:cNvGraphicFramePr/>
          <p:nvPr/>
        </p:nvGraphicFramePr>
        <p:xfrm>
          <a:off x="6462350" y="415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{9938CAF3-27BF-4CEA-A4B5-65035D36A97C}</a:tableStyleId>
              </a:tblPr>
              <a:tblGrid>
                <a:gridCol w="2640650"/>
                <a:gridCol w="2640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Name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Enrollment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Vidhan Nahar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AU2340199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Shubham Mehta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AU2340210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Yashvi Jakharia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AU2340100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Jash Aghicha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lt1"/>
                          </a:solidFill>
                        </a:rPr>
                        <a:t>AU2320253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Unmanned Aerial Vehicles (UAVs) are widely used in many applications such as: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○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Traffic monitoring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○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Public safety and surveillance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○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Disaster management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○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Urban planning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These UAVs capture aerial images containing multiple moving objects such as cars, buses, and pedestrians.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Automatically detecting and tracking these objects is important for building intelligent monitoring systems.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60d2e9682_0_1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04" name="Google Shape;104;g3960d2e9682_0_1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goal of this project is to build a multi-object tracking system that can detect and track multiple objects in aerial images captured by drones.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system should: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○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Detect objects present in each frame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○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Assign a unique ID to each object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Helvetica Neue"/>
              <a:buChar char="○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Track the same object across multiple frames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Helvetica Neue"/>
              <a:buChar char="●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final output should maintain the trajectory of each object over time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g3960d2e9682_0_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0d2e9682_0_27"/>
          <p:cNvSpPr txBox="1"/>
          <p:nvPr>
            <p:ph type="title"/>
          </p:nvPr>
        </p:nvSpPr>
        <p:spPr>
          <a:xfrm>
            <a:off x="587375" y="558125"/>
            <a:ext cx="105156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Proposed Methodology</a:t>
            </a:r>
            <a:endParaRPr/>
          </a:p>
        </p:txBody>
      </p:sp>
      <p:sp>
        <p:nvSpPr>
          <p:cNvPr id="111" name="Google Shape;111;g3960d2e9682_0_27"/>
          <p:cNvSpPr txBox="1"/>
          <p:nvPr>
            <p:ph idx="1" type="body"/>
          </p:nvPr>
        </p:nvSpPr>
        <p:spPr>
          <a:xfrm>
            <a:off x="587375" y="1653300"/>
            <a:ext cx="114126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Dataset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VisDrone2019-MOT-train — Bounding box annotations of video sequences of UAVs per frame.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Tracklet Generation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Online greedy tracker with Euclidean distance between bounding box centres.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Detection to closest active tracklet in case of distance of points is less than 60px, otherwise a new tracklet is created.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960d2e9682_0_2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784b425ce_0_7"/>
          <p:cNvSpPr txBox="1"/>
          <p:nvPr>
            <p:ph type="title"/>
          </p:nvPr>
        </p:nvSpPr>
        <p:spPr>
          <a:xfrm>
            <a:off x="587375" y="644275"/>
            <a:ext cx="105156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Proposed Methodology</a:t>
            </a:r>
            <a:endParaRPr/>
          </a:p>
        </p:txBody>
      </p:sp>
      <p:sp>
        <p:nvSpPr>
          <p:cNvPr id="118" name="Google Shape;118;g3d784b425ce_0_7"/>
          <p:cNvSpPr txBox="1"/>
          <p:nvPr>
            <p:ph idx="1" type="body"/>
          </p:nvPr>
        </p:nvSpPr>
        <p:spPr>
          <a:xfrm>
            <a:off x="587375" y="1905150"/>
            <a:ext cx="11412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Offline Track Association (3 Strategies)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Rule based: planar merging when time difference is less than or equal to 5 frames and spatial distance is less than or equal 60px.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Appearance-conscious: contains color-histogram-cosine-similarity test (value 5 0.6)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ML-based: 8 pairwise features (time gap, distance, speed, appearance), were trained by using Logistic Regression.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d784b425ce_0_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784b425ce_0_13"/>
          <p:cNvSpPr txBox="1"/>
          <p:nvPr>
            <p:ph type="title"/>
          </p:nvPr>
        </p:nvSpPr>
        <p:spPr>
          <a:xfrm>
            <a:off x="587375" y="664150"/>
            <a:ext cx="105156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Proposed Methodology</a:t>
            </a:r>
            <a:endParaRPr/>
          </a:p>
        </p:txBody>
      </p:sp>
      <p:sp>
        <p:nvSpPr>
          <p:cNvPr id="125" name="Google Shape;125;g3d784b425ce_0_13"/>
          <p:cNvSpPr txBox="1"/>
          <p:nvPr>
            <p:ph idx="1" type="body"/>
          </p:nvPr>
        </p:nvSpPr>
        <p:spPr>
          <a:xfrm>
            <a:off x="587375" y="1587150"/>
            <a:ext cx="11412600" cy="3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ML Training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Pairs that have VisDrone GT IDs that are similar but not identical through IoU being the same object = 1 different = 0.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class_weight="balanced" was used to deal with class imbalance.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Evaluation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GT Fragmentation, Prediction, GT Coverage, Identity Switches.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matched all against ground-truth object IDs all with IoU Ge 0.5 per-frame.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d784b425ce_0_1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60d2e9682_0_34"/>
          <p:cNvSpPr txBox="1"/>
          <p:nvPr>
            <p:ph type="title"/>
          </p:nvPr>
        </p:nvSpPr>
        <p:spPr>
          <a:xfrm>
            <a:off x="587375" y="459150"/>
            <a:ext cx="105156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32" name="Google Shape;132;g3960d2e9682_0_34"/>
          <p:cNvSpPr txBox="1"/>
          <p:nvPr>
            <p:ph idx="1" type="body"/>
          </p:nvPr>
        </p:nvSpPr>
        <p:spPr>
          <a:xfrm>
            <a:off x="587375" y="1457850"/>
            <a:ext cx="11412600" cy="3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Tools and Libraries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Python, NumPy, OpenCV, Pandas, ScikitLearn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Tracklet Structure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Dictionary containing track id, frames, boxes, centers, last center, last frame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Merging Logic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Tracklets To frame sorted greedy forward chaining then ID still used on merge inferred earlier.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960d2e9682_0_3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784b425ce_0_22"/>
          <p:cNvSpPr txBox="1"/>
          <p:nvPr>
            <p:ph type="title"/>
          </p:nvPr>
        </p:nvSpPr>
        <p:spPr>
          <a:xfrm>
            <a:off x="567497" y="538650"/>
            <a:ext cx="105156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39" name="Google Shape;139;g3d784b425ce_0_22"/>
          <p:cNvSpPr txBox="1"/>
          <p:nvPr>
            <p:ph idx="1" type="body"/>
          </p:nvPr>
        </p:nvSpPr>
        <p:spPr>
          <a:xfrm>
            <a:off x="587375" y="1457850"/>
            <a:ext cx="11412600" cy="3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ML Pipeline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Candidate pair built 8-feature matrix saved via joblib trained in logistic regression pipeline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At Interference: merge if predicted probability &gt;= 0.5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Tuning and Evaluation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Grid search on parameter combinations of 27 parameters → best configuration chosen through composite score.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IoU = 0.5 or above used in all evaluation measures.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d784b425ce_0_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78dfb8fc9_0_0"/>
          <p:cNvSpPr txBox="1"/>
          <p:nvPr>
            <p:ph type="title"/>
          </p:nvPr>
        </p:nvSpPr>
        <p:spPr>
          <a:xfrm>
            <a:off x="587378" y="-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46" name="Google Shape;146;g3d78dfb8fc9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7" name="Google Shape;147;g3d78dfb8fc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375" y="1458225"/>
            <a:ext cx="5444550" cy="24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d78dfb8fc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3725" y="4246000"/>
            <a:ext cx="5444551" cy="20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d78dfb8fc9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4325" y="1478100"/>
            <a:ext cx="5444535" cy="2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60d2e9682_0_41"/>
          <p:cNvSpPr txBox="1"/>
          <p:nvPr>
            <p:ph type="title"/>
          </p:nvPr>
        </p:nvSpPr>
        <p:spPr>
          <a:xfrm>
            <a:off x="587378" y="-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Planning Ahead</a:t>
            </a:r>
            <a:endParaRPr/>
          </a:p>
        </p:txBody>
      </p:sp>
      <p:sp>
        <p:nvSpPr>
          <p:cNvPr id="155" name="Google Shape;155;g3960d2e9682_0_41"/>
          <p:cNvSpPr txBox="1"/>
          <p:nvPr>
            <p:ph idx="1" type="body"/>
          </p:nvPr>
        </p:nvSpPr>
        <p:spPr>
          <a:xfrm>
            <a:off x="298650" y="1418325"/>
            <a:ext cx="11594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Global Optimization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: Replace the current greedy merging strategy with a globally optimal solution to prevent irreversible association errors.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Robust Feature Extraction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: Upgrade from basic color histograms to appearance descriptors that capture object texture and shape.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Standardized Evaluation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: Incorporate industry-standard metrics like MOTA and IDF1 to allow for direct comparison with state-of-the-art research.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Fine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Tuning: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So we can do out testing on small dataset if required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960d2e9682_0_4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78d01c4a9_0_0"/>
          <p:cNvSpPr txBox="1"/>
          <p:nvPr>
            <p:ph type="title"/>
          </p:nvPr>
        </p:nvSpPr>
        <p:spPr>
          <a:xfrm>
            <a:off x="587378" y="-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2" name="Google Shape;162;g3d78d01c4a9_0_0"/>
          <p:cNvSpPr txBox="1"/>
          <p:nvPr>
            <p:ph idx="1" type="body"/>
          </p:nvPr>
        </p:nvSpPr>
        <p:spPr>
          <a:xfrm>
            <a:off x="298650" y="1418325"/>
            <a:ext cx="11594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Wojke, N., Bewley, A., &amp; Paulus, D. (2017, March 21). Simple Online and Realtime Tracking with a Deep Association Metric. arXiv.org. </a:t>
            </a:r>
            <a:r>
              <a:rPr lang="en-US" sz="2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https://arxiv.org/abs/1703.07402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Zhu, P., Wen, L., Bian, X., Ling, H., &amp; Hu, Q. (2018, April 20). Vision Meets Drones: a challenge. arXiv.org. </a:t>
            </a:r>
            <a:r>
              <a:rPr lang="en-US" sz="2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https://arxiv.org/abs/1804.07437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Bhavsar, Y., Zaveri, M., Raval, M., Zaveri, S., &amp; University, A. (2026). DRASHTI-HaOBB: Drone nadiR-view Annotated imageS of veHicles dataseT for India - Heading-angle Oriented Bounding Box: Indian Vehicle Oriented-Object-Detection Dataset with 1.3 Million Samples [Dataset]. In Zenodo (CERN European Organization for Nuclear Research). https://doi.org/10.5281/zenodo.18278988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78d01c4a9_0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a0de8e63f_2_35"/>
          <p:cNvSpPr txBox="1"/>
          <p:nvPr>
            <p:ph type="title"/>
          </p:nvPr>
        </p:nvSpPr>
        <p:spPr>
          <a:xfrm>
            <a:off x="3940352" y="2766150"/>
            <a:ext cx="4311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THANK YOU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